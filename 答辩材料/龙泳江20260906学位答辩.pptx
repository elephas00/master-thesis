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各位专家好，我是龙泳江，我的导师是苏中根教授，我来自工程师学院的数据科学与工程专业。</a:t>
            </a:r>
          </a:p>
          <a:p>
            <a:r>
              <a:rPr>
                <a:latin typeface="Calibri"/>
                <a:ea typeface="微软雅黑"/>
              </a:rPr>
              <a:t>我的学位论文题目是《基于机器学习的固态硬盘故障预测与寿命提升方法研究》。</a:t>
            </a:r>
          </a:p>
          <a:p>
            <a:r>
              <a:rPr>
                <a:latin typeface="Calibri"/>
                <a:ea typeface="微软雅黑"/>
              </a:rPr>
              <a:t>感谢各位在百忙之中来参加我的答辩。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接下来是答辩的具体内容。</a:t>
            </a:r>
          </a:p>
          <a:p>
            <a:r>
              <a:rPr>
                <a:latin typeface="Calibri"/>
                <a:ea typeface="微软雅黑"/>
              </a:rPr>
              <a:t>报告围绕盘级预测、块级优化、系统落地三个核心问题展开。</a:t>
            </a:r>
          </a:p>
          <a:p>
            <a:r>
              <a:rPr>
                <a:latin typeface="Calibri"/>
                <a:ea typeface="微软雅黑"/>
              </a:rPr>
              <a:t>第一，盘级故障预测——如何提前 30 天、低误报地检出 SSD 故障？目标是在检出能力持平的前提下显著降低误报率。</a:t>
            </a:r>
          </a:p>
          <a:p>
            <a:r>
              <a:rPr>
                <a:latin typeface="Calibri"/>
                <a:ea typeface="微软雅黑"/>
              </a:rPr>
              <a:t>第二，块级寿命优化——SSD 内部有很多块，每个块的使用耐久不一样，我们怎样充分利用它们的寿命？通过区分强弱块来提升整体写入量。</a:t>
            </a:r>
          </a:p>
          <a:p>
            <a:r>
              <a:rPr>
                <a:latin typeface="Calibri"/>
                <a:ea typeface="微软雅黑"/>
              </a:rPr>
              <a:t>第三，原型系统落地——如何把算法打通成完整的预警处置闭环？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首先介绍一下背景。</a:t>
            </a:r>
          </a:p>
          <a:p>
            <a:r>
              <a:rPr>
                <a:latin typeface="Calibri"/>
                <a:ea typeface="微软雅黑"/>
              </a:rPr>
              <a:t>请看右侧的全球数据存储规模增长趋势图。截至 2024 年，全球数据中心已经突破 11800 座，到 2030 年数据量预计超过 1000 ZB。</a:t>
            </a:r>
          </a:p>
          <a:p>
            <a:r>
              <a:rPr>
                <a:latin typeface="Calibri"/>
                <a:ea typeface="微软雅黑"/>
              </a:rPr>
              <a:t>SSD 作为数据中心的重要存储设备，承担着越来越大的份额，但年化故障率大约 2.5%。看起来不高，可乘以万盘规模的基数，每次故障都可能造成业务中断和数据不可逆丢失。</a:t>
            </a:r>
          </a:p>
          <a:p>
            <a:r>
              <a:rPr>
                <a:latin typeface="Calibri"/>
                <a:ea typeface="微软雅黑"/>
              </a:rPr>
              <a:t>左下角就是一个真实案例——唐山银行因为核心存储故障，紧急采购了华为 NAS 设备做替换。虽然数据可以恢复，但业务中断本身就是损失。</a:t>
            </a:r>
          </a:p>
          <a:p>
            <a:r>
              <a:rPr>
                <a:latin typeface="Calibri"/>
                <a:ea typeface="微软雅黑"/>
              </a:rPr>
              <a:t>被动容灾消耗很大，主动预警才是降本的关键。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现在就是目前的一些工作。</a:t>
            </a:r>
          </a:p>
          <a:p>
            <a:r>
              <a:rPr>
                <a:latin typeface="Calibri"/>
                <a:ea typeface="微软雅黑"/>
              </a:rPr>
              <a:t>盘级故障预测这条线，右边列了代表性工作。</a:t>
            </a:r>
          </a:p>
          <a:p>
            <a:r>
              <a:rPr>
                <a:latin typeface="Calibri"/>
                <a:ea typeface="微软雅黑"/>
              </a:rPr>
              <a:t>简单说，现有方法主要有两类：树模型集成和深度时序网络，已经在阿里云、腾讯等公开数据集上做了验证，但各自都有局限。</a:t>
            </a:r>
          </a:p>
          <a:p>
            <a:r>
              <a:rPr>
                <a:latin typeface="Calibri"/>
                <a:ea typeface="微软雅黑"/>
              </a:rPr>
              <a:t>块级寿命管理这条线，目前还很少有人做数据驱动的预测。</a:t>
            </a:r>
          </a:p>
          <a:p>
            <a:r>
              <a:rPr>
                <a:latin typeface="Calibri"/>
                <a:ea typeface="微软雅黑"/>
              </a:rPr>
              <a:t>传统方案就是厂商给一个统一的 PE 阈值，超过这个值就认为块不可用了。这种做法简单，但不区分块间差异。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现在研究的不足，就是我们尝试解决的问题。</a:t>
            </a:r>
          </a:p>
          <a:p>
            <a:r>
              <a:rPr>
                <a:latin typeface="Calibri"/>
                <a:ea typeface="微软雅黑"/>
              </a:rPr>
              <a:t>盘级预测的不足集中在三点。</a:t>
            </a:r>
          </a:p>
          <a:p>
            <a:r>
              <a:rPr>
                <a:latin typeface="Calibri"/>
                <a:ea typeface="微软雅黑"/>
              </a:rPr>
              <a:t>第一，现有方法动辄使用数百天甚至 256 天的长窗口特征，稀释了近端突变信号，标签噪声混入了静默段。</a:t>
            </a:r>
          </a:p>
          <a:p>
            <a:r>
              <a:rPr>
                <a:latin typeface="Calibri"/>
                <a:ea typeface="微软雅黑"/>
              </a:rPr>
              <a:t>第二，即使最强基线 MVT-RF 达到了 F₀.₅=0.919，FPR 仍有 4.53 乘以 10 的负 5 次方。</a:t>
            </a:r>
          </a:p>
          <a:p>
            <a:r>
              <a:rPr>
                <a:latin typeface="Calibri"/>
                <a:ea typeface="微软雅黑"/>
              </a:rPr>
              <a:t>第三，数据中心盘多了以后虚假告警是大量的，人工根本处理不过来。一般就会配规则自动下线，机器下线了人工不会再复核。所以每一次误报就是一次真实的换盘，都是工时开销。FPR 每降一个 10 的负 5 次方，就减少约 1 次每万次的假阳性。</a:t>
            </a:r>
          </a:p>
          <a:p>
            <a:r>
              <a:rPr>
                <a:latin typeface="Calibri"/>
                <a:ea typeface="微软雅黑"/>
              </a:rPr>
              <a:t>块级寿命管理的不足主要是：统一 PE 阈值让弱块过早淘汰、强块耐久余量被浪费，而且缺乏从预测到调度再到验证的完整闭环。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针对这些不足，本文确立了三条目标：</a:t>
            </a:r>
          </a:p>
          <a:p>
            <a:r>
              <a:rPr>
                <a:latin typeface="Calibri"/>
                <a:ea typeface="微软雅黑"/>
              </a:rPr>
              <a:t>第一，在 30 天预测窗口内实现低误报预警，FPR 显著低于最强基线。</a:t>
            </a:r>
          </a:p>
          <a:p>
            <a:r>
              <a:rPr>
                <a:latin typeface="Calibri"/>
                <a:ea typeface="微软雅黑"/>
              </a:rPr>
              <a:t>第二，差异化 PE 提升整体写入量。</a:t>
            </a:r>
          </a:p>
          <a:p>
            <a:r>
              <a:rPr>
                <a:latin typeface="Calibri"/>
                <a:ea typeface="微软雅黑"/>
              </a:rPr>
              <a:t>第三，原型软件打通全闭环。</a:t>
            </a:r>
          </a:p>
          <a:p>
            <a:r>
              <a:rPr>
                <a:latin typeface="Calibri"/>
                <a:ea typeface="微软雅黑"/>
              </a:rPr>
              <a:t>贯穿全文的核心主线是——低误报约束同时贯穿盘级 FPR 控制和块级误判率控制。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这里是整体框架。</a:t>
            </a:r>
          </a:p>
          <a:p>
            <a:r>
              <a:rPr>
                <a:latin typeface="Calibri"/>
                <a:ea typeface="微软雅黑"/>
              </a:rPr>
              <a:t>请看图中三段式架构。</a:t>
            </a:r>
          </a:p>
          <a:p>
            <a:r>
              <a:rPr>
                <a:latin typeface="Calibri"/>
                <a:ea typeface="微软雅黑"/>
              </a:rPr>
              <a:t>第三章做盘级预测，核心是混合标注加突变特征配合异构集成。</a:t>
            </a:r>
          </a:p>
          <a:p>
            <a:r>
              <a:rPr>
                <a:latin typeface="Calibri"/>
                <a:ea typeface="微软雅黑"/>
              </a:rPr>
              <a:t>第四章下沉到块级，用早期 FBC 特征做集成分类后实施差异化 PE。</a:t>
            </a:r>
          </a:p>
          <a:p>
            <a:r>
              <a:rPr>
                <a:latin typeface="Calibri"/>
                <a:ea typeface="微软雅黑"/>
              </a:rPr>
              <a:t>第五章把算法集成进运维软件，形成完整的数据驱动闭环。</a:t>
            </a:r>
          </a:p>
          <a:p>
            <a:r>
              <a:rPr>
                <a:latin typeface="Calibri"/>
                <a:ea typeface="微软雅黑"/>
              </a:rPr>
              <a:t>三章层层递进，从预测到优化到落地。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下面进入技术基础部分。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先来讲一下涉及到的技术基础，首先为什么会发生故障。</a:t>
            </a:r>
          </a:p>
          <a:p>
            <a:r>
              <a:rPr>
                <a:latin typeface="Calibri"/>
                <a:ea typeface="微软雅黑"/>
              </a:rPr>
              <a:t>先做一个直观的类比——SSD 存数据就像用铅笔在纸上写字，写多了擦、擦了写，纸面会越来越粗糙，最终写不上字。</a:t>
            </a:r>
          </a:p>
          <a:p>
            <a:r>
              <a:rPr>
                <a:latin typeface="Calibri"/>
                <a:ea typeface="微软雅黑"/>
              </a:rPr>
              <a:t>物理上，这个"写字"是怎么实现的呢？</a:t>
            </a:r>
          </a:p>
          <a:p>
            <a:r>
              <a:rPr>
                <a:latin typeface="Calibri"/>
                <a:ea typeface="微软雅黑"/>
              </a:rPr>
              <a:t>请看右图。闪存内部有一个很小的氧化层结构，氧化层之间像一个小仓库，用来困住电子。</a:t>
            </a:r>
          </a:p>
          <a:p>
            <a:r>
              <a:rPr>
                <a:latin typeface="Calibri"/>
                <a:ea typeface="微软雅黑"/>
              </a:rPr>
              <a:t>有电子的时候电压高，没电子的时候电压低——我们就用这两种状态来编码 0 和 1。</a:t>
            </a:r>
          </a:p>
          <a:p>
            <a:r>
              <a:rPr>
                <a:latin typeface="Calibri"/>
                <a:ea typeface="微软雅黑"/>
              </a:rPr>
              <a:t>如果说电压分布有两个峰，那就是两种状态、存 1 个比特就是 SLC；四个峰就是四种状态、两个比特就是 MLC；八个峰就是八种状态、三个比特就是 TLC。</a:t>
            </a:r>
          </a:p>
          <a:p>
            <a:r>
              <a:rPr>
                <a:latin typeface="Calibri"/>
                <a:ea typeface="微软雅黑"/>
              </a:rPr>
              <a:t>但问题来了：存得越多，电压状态就越挤，对偏移也就越敏感。</a:t>
            </a:r>
          </a:p>
          <a:p>
            <a:r>
              <a:rPr>
                <a:latin typeface="Calibri"/>
                <a:ea typeface="微软雅黑"/>
              </a:rPr>
              <a:t>随着使用，氧化隧道层会磨损老化，对电子的捕捉能力下降，电压就会泄露、发生偏移。原来读到的一个电压状态可能就不准了——原来读 100 可能实际上变成了 101，因此就产生了错误比特（FBC）。</a:t>
            </a:r>
          </a:p>
          <a:p>
            <a:r>
              <a:rPr>
                <a:latin typeface="Calibri"/>
                <a:ea typeface="微软雅黑"/>
              </a:rPr>
              <a:t>TLC 状态更密，同样的偏移量更容易读错。</a:t>
            </a:r>
          </a:p>
          <a:p>
            <a:r>
              <a:rPr>
                <a:latin typeface="Calibri"/>
                <a:ea typeface="微软雅黑"/>
              </a:rPr>
              <a:t>SSD 本身有纠错机制，但如果一个块的错误比特超过了纠错能力的上限，这个块就彻底报废了。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错误比特产生之后，固态盘不可能什么都不做，会在软件层做容错。比如用 LDPC 校验码来编码——添加额外的校验位，读出来有一定数量的比特错了，可以通过校验码校验回来。超过容错上限就无法复原了。</a:t>
            </a:r>
          </a:p>
          <a:p>
            <a:r>
              <a:rPr>
                <a:latin typeface="Calibri"/>
                <a:ea typeface="微软雅黑"/>
              </a:rPr>
              <a:t>这些软件容错方案会产生通用的监控指标，就是 SMART 指标，比如温度、备用块数量、通电时间。第三章用的就是 SMART 指标作为特征。</a:t>
            </a:r>
          </a:p>
          <a:p>
            <a:r>
              <a:rPr>
                <a:latin typeface="Calibri"/>
                <a:ea typeface="微软雅黑"/>
              </a:rPr>
              <a:t>第四章则不同——直接用错误比特本身来建模，预测块的寿命。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前面是特征的来源，右边是我们使用的建模技术。</a:t>
            </a:r>
          </a:p>
          <a:p>
            <a:r>
              <a:rPr>
                <a:latin typeface="Calibri"/>
                <a:ea typeface="微软雅黑"/>
              </a:rPr>
              <a:t>本文选用三种异构模型做互补。</a:t>
            </a:r>
          </a:p>
          <a:p>
            <a:r>
              <a:rPr>
                <a:latin typeface="Calibri"/>
                <a:ea typeface="微软雅黑"/>
              </a:rPr>
              <a:t>左边是随机森林——同一份数据用不同子集训练多棵树，最后投票表决，单个模型的偏差互相抵消，结果更稳定。</a:t>
            </a:r>
          </a:p>
          <a:p>
            <a:r>
              <a:rPr>
                <a:latin typeface="Calibri"/>
                <a:ea typeface="微软雅黑"/>
              </a:rPr>
              <a:t>右边是 Boosting 系列——XGBoost 和 LightGBM，它们每一轮都在修正上一轮犯过的错，逐步提升精度。</a:t>
            </a:r>
          </a:p>
          <a:p>
            <a:r>
              <a:rPr>
                <a:latin typeface="Calibri"/>
                <a:ea typeface="微软雅黑"/>
              </a:rPr>
              <a:t>三者各有所长，随机森林稳、Boosting 精度高，异构集成实现互补。</a:t>
            </a:r>
          </a:p>
          <a:p>
            <a:r>
              <a:rPr>
                <a:latin typeface="Calibri"/>
                <a:ea typeface="微软雅黑"/>
              </a:rPr>
              <a:t>至于为什么不用深度学习——我们的正负样本比例大约是 1 比 700 到 1 比 1000，深度学习在这种极端不平衡下梯度全被健康样本主导，训练出来的模型只会判健康。</a:t>
            </a:r>
          </a:p>
          <a:p>
            <a:r>
              <a:rPr>
                <a:latin typeface="Calibri"/>
                <a:ea typeface="微软雅黑"/>
              </a:rPr>
              <a:t>树模型基于特征分裂，天然对样本比例不敏感，在这个场景下更稳。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前面的背景和技术都讲清楚了，进入第三章，盘级故障预测。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请看这张总体流程图。SMART 日级日志经过预处理和 A/B 归纳后分三路并行处理。</a:t>
            </a:r>
          </a:p>
          <a:p>
            <a:r>
              <a:rPr>
                <a:latin typeface="Calibri"/>
                <a:ea typeface="微软雅黑"/>
              </a:rPr>
              <a:t>第一路是混合标注模块，提供降噪后的监督信号。</a:t>
            </a:r>
          </a:p>
          <a:p>
            <a:r>
              <a:rPr>
                <a:latin typeface="Calibri"/>
                <a:ea typeface="微软雅黑"/>
              </a:rPr>
              <a:t>第二路是突变特征构造，捕捉故障近端的短期跳变。</a:t>
            </a:r>
          </a:p>
          <a:p>
            <a:r>
              <a:rPr>
                <a:latin typeface="Calibri"/>
                <a:ea typeface="微软雅黑"/>
              </a:rPr>
              <a:t>第三路是异构集成预测，RF、XGBoost、LightGBM 三路并行后经 Attention 融合。</a:t>
            </a:r>
          </a:p>
          <a:p>
            <a:r>
              <a:rPr>
                <a:latin typeface="Calibri"/>
                <a:ea typeface="微软雅黑"/>
              </a:rPr>
              <a:t>最终输出样本级故障概率，聚合为盘级最早告警评估。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这是我们使用的数据。</a:t>
            </a:r>
          </a:p>
          <a:p>
            <a:r>
              <a:rPr>
                <a:latin typeface="Calibri"/>
                <a:ea typeface="微软雅黑"/>
              </a:rPr>
              <a:t>实验使用阿里云公开的 SMART 数据集，涵盖五座数据中心、2018 年 1 月到 2019 年 12 月的日级日志。</a:t>
            </a:r>
          </a:p>
          <a:p>
            <a:r>
              <a:rPr>
                <a:latin typeface="Calibri"/>
                <a:ea typeface="微软雅黑"/>
              </a:rPr>
              <a:t>原始数据合计 9.3 万块盘，经过清洗后保留约 8 万块。移除了前五个月故障极少且第六个月异常激增的非稳态时段，也移除了观测期过短的盘。</a:t>
            </a:r>
          </a:p>
          <a:p>
            <a:r>
              <a:rPr>
                <a:latin typeface="Calibri"/>
                <a:ea typeface="微软雅黑"/>
              </a:rPr>
              <a:t>MB1 和 MB2 均为 MLC-SSD，故障率构成高、低信噪比对照。</a:t>
            </a:r>
          </a:p>
          <a:p>
            <a:r>
              <a:rPr>
                <a:latin typeface="Calibri"/>
                <a:ea typeface="微软雅黑"/>
              </a:rPr>
              <a:t>102 列 SMART 属性经过空值过滤、零方差剔除和 Spearman 冗余筛选三步，保留了核心特征。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这里就是它的故障分布和缺失模式。</a:t>
            </a:r>
          </a:p>
          <a:p>
            <a:r>
              <a:rPr>
                <a:latin typeface="Calibri"/>
                <a:ea typeface="微软雅黑"/>
              </a:rPr>
              <a:t>左图是 MB1 和 MB2 的月度故障计数。MB1 的故障高峰集中在 2018 年中和 2019 年末，MB2 故障率更低但分布更均匀。</a:t>
            </a:r>
          </a:p>
          <a:p>
            <a:r>
              <a:rPr>
                <a:latin typeface="Calibri"/>
                <a:ea typeface="微软雅黑"/>
              </a:rPr>
              <a:t>右图展示了 SMART 数据的缺失模式。可以看到部分 SMART 属性存在系统性缺失，这不是随机丢失的，因此在预处理阶段需要针对性地补全，否则会引入偏差。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基于清洗完的数据集做了补全之后，在上面做了一个分析。</a:t>
            </a:r>
          </a:p>
          <a:p>
            <a:r>
              <a:rPr>
                <a:latin typeface="Calibri"/>
                <a:ea typeface="微软雅黑"/>
              </a:rPr>
              <a:t>我们把 SMART 属性按故障相关性分为 A 组和 B 组。简单来说，A 组是一直在缓慢变化的，B 组是平时不动、出错才动的。</a:t>
            </a:r>
          </a:p>
          <a:p>
            <a:r>
              <a:rPr>
                <a:latin typeface="Calibri"/>
                <a:ea typeface="微软雅黑"/>
              </a:rPr>
              <a:t>B 组是像备用块计数、错误计数这类属性——一般都是零，出了错变成 1，再出错变成 2，单调递增。</a:t>
            </a:r>
          </a:p>
          <a:p>
            <a:r>
              <a:rPr>
                <a:latin typeface="Calibri"/>
                <a:ea typeface="微软雅黑"/>
              </a:rPr>
              <a:t>这类属性在故障前 1 到 3 天会呈现明显的阶跃式突变。</a:t>
            </a:r>
          </a:p>
          <a:p>
            <a:r>
              <a:rPr>
                <a:latin typeface="Calibri"/>
                <a:ea typeface="微软雅黑"/>
              </a:rPr>
              <a:t>请看左图 MB1 的六块故障盘，时序曲线都呈现一致的突变模式。A 组磨损计数则是缓慢平稳增长，没有这种近端跳变。</a:t>
            </a:r>
          </a:p>
          <a:p>
            <a:r>
              <a:rPr>
                <a:latin typeface="Calibri"/>
                <a:ea typeface="微软雅黑"/>
              </a:rPr>
              <a:t>右图 MB2 验证了这个发现——即使在低故障率场景下，突变信号仍然可以辨识。不过低信噪比确实对模型的检出能力构成了挑战。</a:t>
            </a:r>
          </a:p>
          <a:p>
            <a:r>
              <a:rPr>
                <a:latin typeface="Calibri"/>
                <a:ea typeface="微软雅黑"/>
              </a:rPr>
              <a:t>这一发现表明——长窗口特征可能并非必要，故障信号高度集中在近端 1 到 3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对这个跳变做了一个更细的统计。</a:t>
            </a:r>
          </a:p>
          <a:p>
            <a:r>
              <a:rPr>
                <a:latin typeface="Calibri"/>
                <a:ea typeface="微软雅黑"/>
              </a:rPr>
              <a:t>请看这张 B 组属性首次非零跳变时间的 PMF 分布图。</a:t>
            </a:r>
          </a:p>
          <a:p>
            <a:r>
              <a:rPr>
                <a:latin typeface="Calibri"/>
                <a:ea typeface="微软雅黑"/>
              </a:rPr>
              <a:t>MB1 的峰值落在故障前 1 天，约占六成；3 天内累计超过六成。</a:t>
            </a:r>
          </a:p>
          <a:p>
            <a:r>
              <a:rPr>
                <a:latin typeface="Calibri"/>
                <a:ea typeface="微软雅黑"/>
              </a:rPr>
              <a:t>还要注意，约 30% 的故障盘在整个 30 天窗口内完全没有跳变——我们叫它们静默盘。这类盘没有任何软件容错指标的变动，只有开机时间在递增、温度在波动，和健康盘无法区分，是最难检出的。</a:t>
            </a:r>
          </a:p>
          <a:p>
            <a:r>
              <a:rPr>
                <a:latin typeface="Calibri"/>
                <a:ea typeface="微软雅黑"/>
              </a:rPr>
              <a:t>对有跳变的盘，首跳时间点有重要意义——它为混合标注的正样本下界提供了统计依据。</a:t>
            </a:r>
          </a:p>
          <a:p>
            <a:r>
              <a:rPr>
                <a:latin typeface="Calibri"/>
                <a:ea typeface="微软雅黑"/>
              </a:rPr>
              <a:t>我们把正样本限制在短窗 k 等于 2 天与首跳的交集区间，从而消除静默段的标签噪声。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为什么要设计标签策略？因为故障盘从健康到故障有一个变化过程，在突变前它和健康盘其实没什么区别。如果说我们把突变前的阶段也标成故障样本，那就是引入了一个非常大的误差。</a:t>
            </a:r>
          </a:p>
          <a:p>
            <a:r>
              <a:rPr>
                <a:latin typeface="Calibri"/>
                <a:ea typeface="微软雅黑"/>
              </a:rPr>
              <a:t>如果只用故障当天标注，会丢失前 1 到 2 天的信号；用 3 到 5 天短窗，噪声减少但仍有；用 30 天长窗，突变前与正常无异的部分全标为故障，噪声最大。</a:t>
            </a:r>
          </a:p>
          <a:p>
            <a:r>
              <a:rPr>
                <a:latin typeface="Calibri"/>
                <a:ea typeface="微软雅黑"/>
              </a:rPr>
              <a:t>所以我们做了一个混合策略——用一个可配置的固定窗口加上跳变时间做交集，同时命中这两个规则的才标记为正样本。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右边就是具体的实现技术。</a:t>
            </a:r>
          </a:p>
          <a:p>
            <a:r>
              <a:rPr>
                <a:latin typeface="Calibri"/>
                <a:ea typeface="微软雅黑"/>
              </a:rPr>
              <a:t>左图是集成模型架构。RF 提供稳定基线，XGBoost 精度高，LightGBM 速度快效率好。</a:t>
            </a:r>
          </a:p>
          <a:p>
            <a:r>
              <a:rPr>
                <a:latin typeface="Calibri"/>
                <a:ea typeface="微软雅黑"/>
              </a:rPr>
              <a:t>三路并行输出故障概率后，由 Attention 模块做样本级自适应加权融合。</a:t>
            </a:r>
          </a:p>
          <a:p>
            <a:r>
              <a:rPr>
                <a:latin typeface="Calibri"/>
                <a:ea typeface="微软雅黑"/>
              </a:rPr>
              <a:t>做集成的原因很直接——单个模型没办法在 MB1 和 MB2 上同时表现不错，集成可以让结果更稳定。</a:t>
            </a:r>
          </a:p>
          <a:p>
            <a:r>
              <a:rPr>
                <a:latin typeface="Calibri"/>
                <a:ea typeface="微软雅黑"/>
              </a:rPr>
              <a:t>每个样本的权重是自适应学习的，融合效果优于任意单一模型。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这个就是评估的结果。</a:t>
            </a:r>
          </a:p>
          <a:p>
            <a:r>
              <a:rPr>
                <a:latin typeface="Calibri"/>
                <a:ea typeface="微软雅黑"/>
              </a:rPr>
              <a:t>请看图中七种方法的三轮平均对比。本文方法 F₀.₅ 为 0.919，与最强基线 MVT-RF 并列最优。</a:t>
            </a:r>
          </a:p>
          <a:p>
            <a:r>
              <a:rPr>
                <a:latin typeface="Calibri"/>
                <a:ea typeface="微软雅黑"/>
              </a:rPr>
              <a:t>但关键差异在误报率——我们的 FPR 是 2.71 乘以 10 的负 5 次方，MVT-RF 是 4.53 乘以 10 的负 5 次方，FPR 下降了 40%。</a:t>
            </a:r>
          </a:p>
          <a:p>
            <a:r>
              <a:rPr>
                <a:latin typeface="Calibri"/>
                <a:ea typeface="微软雅黑"/>
              </a:rPr>
              <a:t>虽然说 F₀.₅ 分数一样，但我们也是给不同团队提供了一种不同的工程方案——同等检出能力下误报更少。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这里是参数选择和它的变化。</a:t>
            </a:r>
          </a:p>
          <a:p>
            <a:r>
              <a:rPr>
                <a:latin typeface="Calibri"/>
                <a:ea typeface="微软雅黑"/>
              </a:rPr>
              <a:t>左图是 W-k 超参灵敏度热力图。MB1 峰值落在 W 等于 1、k 等于 2 的组合，MB2 落在 2 和 2。</a:t>
            </a:r>
          </a:p>
          <a:p>
            <a:r>
              <a:rPr>
                <a:latin typeface="Calibri"/>
                <a:ea typeface="微软雅黑"/>
              </a:rPr>
              <a:t>可以看到 W 大于等于 1 的区域整体维持高位，性能对超参扰动不敏感，说明方法鲁棒性较好。</a:t>
            </a:r>
          </a:p>
          <a:p>
            <a:r>
              <a:rPr>
                <a:latin typeface="Calibri"/>
                <a:ea typeface="微软雅黑"/>
              </a:rPr>
              <a:t>右图是 TP 预警提前量分布。这里要补充一点：30 天是建模窗口长度，实际主力检出集中在故障前 1 天以内，绝大多数 TP 都在这个范围内。</a:t>
            </a:r>
          </a:p>
          <a:p>
            <a:r>
              <a:rPr>
                <a:latin typeface="Calibri"/>
                <a:ea typeface="微软雅黑"/>
              </a:rPr>
              <a:t>告警紧贴故障日，误报很低，但留给数据迁移的时间窗口也有限。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然后看一下所有方法的分布，其实都集中在故障前几天。</a:t>
            </a:r>
          </a:p>
          <a:p>
            <a:r>
              <a:rPr>
                <a:latin typeface="Calibri"/>
                <a:ea typeface="微软雅黑"/>
              </a:rPr>
              <a:t>这张热力图按轮次和方法细分了 TP 检出分布。</a:t>
            </a:r>
          </a:p>
          <a:p>
            <a:r>
              <a:rPr>
                <a:latin typeface="Calibri"/>
                <a:ea typeface="微软雅黑"/>
              </a:rPr>
              <a:t>检出盘的提前量高度集中在故障前 1 天以内。</a:t>
            </a:r>
          </a:p>
          <a:p>
            <a:r>
              <a:rPr>
                <a:latin typeface="Calibri"/>
                <a:ea typeface="微软雅黑"/>
              </a:rPr>
              <a:t>其实大部分方法也都集中在靠近故障的几天里面，这恰恰说明——长窗口可能并不需要那么长。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这就是第三章的一个小结。</a:t>
            </a:r>
          </a:p>
          <a:p>
            <a:r>
              <a:rPr>
                <a:latin typeface="Calibri"/>
                <a:ea typeface="微软雅黑"/>
              </a:rPr>
              <a:t>第三章提出了混合标注加突变特征加异构集成的三层衔接方案。</a:t>
            </a:r>
          </a:p>
          <a:p>
            <a:r>
              <a:rPr>
                <a:latin typeface="Calibri"/>
                <a:ea typeface="微软雅黑"/>
              </a:rPr>
              <a:t>近端突变标注消除了长窗稀释，B 组 r_k|Δ| 捕捉了 1 到 3 天的突变信号。</a:t>
            </a:r>
          </a:p>
          <a:p>
            <a:r>
              <a:rPr>
                <a:latin typeface="Calibri"/>
                <a:ea typeface="微软雅黑"/>
              </a:rPr>
              <a:t>MB1 上 F₀.₅ 达到 0.919，与最强基线并列最优，FPR 降低了 40%，Precision 更高——契合运维低误报约束。</a:t>
            </a:r>
          </a:p>
          <a:p>
            <a:r>
              <a:rPr>
                <a:latin typeface="Calibri"/>
                <a:ea typeface="微软雅黑"/>
              </a:rPr>
              <a:t>消融实验全面验证了标注策略、突变特征和集成模型各自的有效贡献。</a:t>
            </a:r>
          </a:p>
          <a:p>
            <a:r>
              <a:rPr>
                <a:latin typeface="Calibri"/>
                <a:ea typeface="微软雅黑"/>
              </a:rPr>
              <a:t>需要坦诚说明的是，这套方案仅在阿里云 MLC-SSD 子集上做了验证，跨型号泛化能力还有待考察。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进入第四章，块级寿命优化。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这个实验是用高温 85 度来模拟实际磨损。</a:t>
            </a:r>
          </a:p>
          <a:p>
            <a:r>
              <a:rPr>
                <a:latin typeface="Calibri"/>
                <a:ea typeface="微软雅黑"/>
              </a:rPr>
              <a:t>第四章用一块 TLC SSD 在 85°C 高温下做加速磨损实验。</a:t>
            </a:r>
          </a:p>
          <a:p>
            <a:r>
              <a:rPr>
                <a:latin typeface="Calibri"/>
                <a:ea typeface="微软雅黑"/>
              </a:rPr>
              <a:t>我们不可能去采集单块使用三年五年的整体变化过程，而且既磨损又要同时采集时间维度和使用次数维度的错误比特变化，这两个同时采集不可行。所以利用块编码中物理位置相近的块组成逻辑组，假设它们具有相似的磨损特性，构建出 256 个逻辑块。</a:t>
            </a:r>
          </a:p>
          <a:p>
            <a:r>
              <a:rPr>
                <a:latin typeface="Calibri"/>
                <a:ea typeface="微软雅黑"/>
              </a:rPr>
              <a:t>观察寿命分布，256 个里面 251 个都能写到 1 万次，剩下 5 块不足 1 万。厂商建议的阈值是 8500。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根据这种分布，我们没有去具体预测每个块的使用寿命。</a:t>
            </a:r>
          </a:p>
          <a:p>
            <a:r>
              <a:rPr>
                <a:latin typeface="Calibri"/>
                <a:ea typeface="微软雅黑"/>
              </a:rPr>
              <a:t>8500 的统一阈值下，强块的剩余写入余量被完全浪费。</a:t>
            </a:r>
          </a:p>
          <a:p>
            <a:r>
              <a:rPr>
                <a:latin typeface="Calibri"/>
                <a:ea typeface="微软雅黑"/>
              </a:rPr>
              <a:t>我们的策略很直观：其实不需要对每个块精确预测寿命，只需要预测出写不到 1 万的那个块，给它少写一点。</a:t>
            </a:r>
          </a:p>
          <a:p>
            <a:r>
              <a:rPr>
                <a:latin typeface="Calibri"/>
                <a:ea typeface="微软雅黑"/>
              </a:rPr>
              <a:t>在早期 PE 档位采集 FBC 特征，用三个模型投票分类出强弱块，然后强块 PE 上限提到 10000、弱块降到 7500。</a:t>
            </a:r>
          </a:p>
          <a:p>
            <a:r>
              <a:rPr>
                <a:latin typeface="Calibri"/>
                <a:ea typeface="微软雅黑"/>
              </a:rPr>
              <a:t>差异化写入策略下，累计写入量提升约 17.08%。这是策略测算值。</a:t>
            </a:r>
          </a:p>
          <a:p>
            <a:r>
              <a:rPr>
                <a:latin typeface="Calibri"/>
                <a:ea typeface="微软雅黑"/>
              </a:rPr>
              <a:t>消融实验发现特征非常强——测试集 52 个块全部预测正确，251 个强块也全部识别。总写入量提升约 17.08%。</a:t>
            </a:r>
          </a:p>
          <a:p>
            <a:r>
              <a:rPr>
                <a:latin typeface="Calibri"/>
                <a:ea typeface="微软雅黑"/>
              </a:rPr>
              <a:t>图中负数的含义是：如果把强块误判成弱块，总写入量反而下降。所以关键是弱块不能被漏判。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具体的建模方法和第三章类似，关键结论已在上一页讲过。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消融分析的话，我们从读取次数、磨损采样 PE 和字线范围三个维度做了消融，关键结论是——单次读取即可保留全部增益。详细数据请看图。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这就是第四章的所有内容。</a:t>
            </a:r>
          </a:p>
          <a:p>
            <a:r>
              <a:rPr>
                <a:latin typeface="Calibri"/>
                <a:ea typeface="微软雅黑"/>
              </a:rPr>
              <a:t>第四章提出了 FBC 强/弱块二分类加差异化 PE 管控方案，约 17% 的累计写入量提升。</a:t>
            </a:r>
          </a:p>
          <a:p>
            <a:r>
              <a:rPr>
                <a:latin typeface="Calibri"/>
                <a:ea typeface="微软雅黑"/>
              </a:rPr>
              <a:t>轻量化消融验证了部署可行性。局限是 256 个逻辑块样本偏小。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进入第五章，原型系统落地。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然后就是第五章。</a:t>
            </a:r>
          </a:p>
          <a:p>
            <a:r>
              <a:rPr>
                <a:latin typeface="Calibri"/>
                <a:ea typeface="微软雅黑"/>
              </a:rPr>
              <a:t>第五章做了一个智慧 SSD 运维原型软件。</a:t>
            </a:r>
          </a:p>
          <a:p>
            <a:r>
              <a:rPr>
                <a:latin typeface="Calibri"/>
                <a:ea typeface="微软雅黑"/>
              </a:rPr>
              <a:t>左图是四层架构——数据采集、算法服务、业务逻辑、前端展示。</a:t>
            </a:r>
          </a:p>
          <a:p>
            <a:r>
              <a:rPr>
                <a:latin typeface="Calibri"/>
                <a:ea typeface="微软雅黑"/>
              </a:rPr>
              <a:t>右图是用例分析——预警的生成、确认、处置、忽略全流程。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右边的话就是运维同学处理的一个时序。预警状态从 pending 到 confirmed 或 ignored，终态不可逆。前端 Vue3、后端 Java 加 Python，REST 接口通信。完整闭环已经跑通。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整个报告差不多结束了，做一个总结。</a:t>
            </a:r>
          </a:p>
          <a:p>
            <a:r>
              <a:rPr>
                <a:latin typeface="Calibri"/>
                <a:ea typeface="微软雅黑"/>
              </a:rPr>
              <a:t>本文的核心贡献有三项。</a:t>
            </a:r>
          </a:p>
          <a:p>
            <a:r>
              <a:rPr>
                <a:latin typeface="Calibri"/>
                <a:ea typeface="微软雅黑"/>
              </a:rPr>
              <a:t>第一，近端突变标注加短期突变特征。混合标注消除了长窗稀释，B 组 r_k|Δ| 捕捉了 1 到 3 天的突变信号。</a:t>
            </a:r>
          </a:p>
          <a:p>
            <a:r>
              <a:rPr>
                <a:latin typeface="Calibri"/>
                <a:ea typeface="微软雅黑"/>
              </a:rPr>
              <a:t>F₀.₅ 达到 0.919，与最强基线并列最优。</a:t>
            </a:r>
          </a:p>
          <a:p>
            <a:r>
              <a:rPr>
                <a:latin typeface="Calibri"/>
                <a:ea typeface="微软雅黑"/>
              </a:rPr>
              <a:t>第二，异构集成预测。做集成的原因是单个模型只在 MB1 上表现好、在 MB2 上就不行了，集成让它更稳定。</a:t>
            </a:r>
          </a:p>
          <a:p>
            <a:r>
              <a:rPr>
                <a:latin typeface="Calibri"/>
                <a:ea typeface="微软雅黑"/>
              </a:rPr>
              <a:t>Attention 融合后 F₀.₅ 达到 0.919 与最强基线并列最优，FPR 降低 40%。</a:t>
            </a:r>
          </a:p>
          <a:p>
            <a:r>
              <a:rPr>
                <a:latin typeface="Calibri"/>
                <a:ea typeface="微软雅黑"/>
              </a:rPr>
              <a:t>大规模部署下虚假告警显著减少。</a:t>
            </a:r>
          </a:p>
          <a:p>
            <a:r>
              <a:rPr>
                <a:latin typeface="Calibri"/>
                <a:ea typeface="微软雅黑"/>
              </a:rPr>
              <a:t>第三，差异化 PE 写入量提升约 17%——这是策略测算值。强/弱块分类后差异化擦写上限，DefaultRead 单次读取即可保留增益。</a:t>
            </a:r>
          </a:p>
          <a:p>
            <a:r>
              <a:rPr>
                <a:latin typeface="Calibri"/>
                <a:ea typeface="微软雅黑"/>
              </a:rPr>
              <a:t>测试集为小样本点估计，统计可靠性有限。</a:t>
            </a:r>
          </a:p>
          <a:p>
            <a:r>
              <a:rPr>
                <a:latin typeface="Calibri"/>
                <a:ea typeface="微软雅黑"/>
              </a:rPr>
              <a:t>一句话概括：低误报约束贯穿两大任务，同等检出能力下误报更少，同等硬件条件下资源利用更充分。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当然也有明确的局限，坦率地跟各位汇报。</a:t>
            </a:r>
          </a:p>
          <a:p>
            <a:r>
              <a:rPr>
                <a:latin typeface="Calibri"/>
                <a:ea typeface="微软雅黑"/>
              </a:rPr>
              <a:t>三个主要局限需要正视。</a:t>
            </a:r>
          </a:p>
          <a:p>
            <a:r>
              <a:rPr>
                <a:latin typeface="Calibri"/>
                <a:ea typeface="微软雅黑"/>
              </a:rPr>
              <a:t>第一，MB2 上 TPR 仅约 0.19，弱信号故障盘仍难检出——这是低误报约束下的固有代价。</a:t>
            </a:r>
          </a:p>
          <a:p>
            <a:r>
              <a:rPr>
                <a:latin typeface="Calibri"/>
                <a:ea typeface="微软雅黑"/>
              </a:rPr>
              <a:t>第二，256 个逻辑块样本偏小，块级结论仍需扩大验证。</a:t>
            </a:r>
          </a:p>
          <a:p>
            <a:r>
              <a:rPr>
                <a:latin typeface="Calibri"/>
                <a:ea typeface="微软雅黑"/>
              </a:rPr>
              <a:t>第三，三轮实验结果之间变化还不小，不是非常稳定，存在概念漂移的问题。</a:t>
            </a:r>
          </a:p>
          <a:p>
            <a:r>
              <a:rPr>
                <a:latin typeface="Calibri"/>
                <a:ea typeface="微软雅黑"/>
              </a:rPr>
              <a:t>未来有四条路可以探索：</a:t>
            </a:r>
          </a:p>
          <a:p>
            <a:r>
              <a:rPr>
                <a:latin typeface="Calibri"/>
                <a:ea typeface="微软雅黑"/>
              </a:rPr>
              <a:t>跨厂商跨型号泛化验证，包括 QLC、PLC 新型闪存；</a:t>
            </a:r>
          </a:p>
          <a:p>
            <a:r>
              <a:rPr>
                <a:latin typeface="Calibri"/>
                <a:ea typeface="微软雅黑"/>
              </a:rPr>
              <a:t>在线增量学习应对概念漂移，让模型持续迭代；</a:t>
            </a:r>
          </a:p>
          <a:p>
            <a:r>
              <a:rPr>
                <a:latin typeface="Calibri"/>
                <a:ea typeface="微软雅黑"/>
              </a:rPr>
              <a:t>以及结合特征重要性做故障归因，给运维同学提供"为什么会报这个盘故障"的参考。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Calibri"/>
                <a:ea typeface="微软雅黑"/>
              </a:rPr>
              <a:t>所有的内容到这里就结束了。感谢各位专家的耐心倾听，敬请批评指正。谢谢。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  <a:ea typeface="微软雅黑"/>
              </a:rPr>
              <a:t>浙江大学硕士学位论文答辩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0A1A3E"/>
                </a:solidFill>
                <a:latin typeface="Calibri"/>
                <a:ea typeface="微软雅黑"/>
              </a:rPr>
              <a:t>基于机器学习的固态硬盘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0A1A3E"/>
                </a:solidFill>
                <a:latin typeface="Calibri"/>
                <a:ea typeface="微软雅黑"/>
              </a:rPr>
              <a:t>故障预测与寿命提升方法研究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8503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答辩人：龙泳江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74920"/>
            <a:ext cx="8503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导师：苏中根教授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486400"/>
            <a:ext cx="8503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学院：工程师学院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897880"/>
            <a:ext cx="8503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专业：数据科学与工程 · 2023 级</a:t>
            </a:r>
          </a:p>
        </p:txBody>
      </p:sp>
      <p:pic>
        <p:nvPicPr>
          <p:cNvPr id="10" name="Picture 9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371600"/>
            <a:ext cx="731520" cy="731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报告围绕盘级预测、块级优化、系统落地三个核心问题展开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051560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研究背景与问题提出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盘级故障预测：如何提前 30 天、低误报地检出 SSD 故障？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基于近端突变标注与异构集成，F</a:t>
            </a:r>
            <a:r>
              <a:rPr sz="1400" b="0" i="0" baseline="-30000">
                <a:solidFill>
                  <a:srgbClr val="666666"/>
                </a:solidFill>
                <a:latin typeface="Calibri"/>
                <a:ea typeface="微软雅黑"/>
              </a:rPr>
              <a:t>0.5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 目标 ≥ 0.9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块级寿命优化：如何差异化利用闪存耐久，提升累计写入量？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基于早期 FBC 特征集成分类，写入量提升目标 ≥ 15%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原型系统落地：如何把算法打通成完整的预警处置闭环？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Vue3 + Java + Python，数据接入→预警→处置全流程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全球数据中心存储规模持续扩张，SSD 故障致巨额损失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53035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全球数据中心突破 11800 座，2030 年数据量预计超 1000 ZB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SSD 年化故障率约 2.5%，故障致业务中断与数据不可逆丢失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被动容灾消耗大，主动预警才是降本关键</a:t>
            </a:r>
          </a:p>
        </p:txBody>
      </p:sp>
      <p:pic>
        <p:nvPicPr>
          <p:cNvPr id="6" name="Picture 5" descr="chap1-data-growth-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16152"/>
            <a:ext cx="5669280" cy="21297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3391601"/>
            <a:ext cx="566928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  <a:ea typeface="微软雅黑"/>
              </a:rPr>
              <a:t>全球数据中心存储规模增长趋势</a:t>
            </a:r>
          </a:p>
        </p:txBody>
      </p:sp>
      <p:pic>
        <p:nvPicPr>
          <p:cNvPr id="8" name="Picture 7" descr="ppt-ssd-failure-n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02" y="3794760"/>
            <a:ext cx="2881915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68002" y="5943600"/>
            <a:ext cx="2881915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  <a:ea typeface="微软雅黑"/>
              </a:rPr>
              <a:t>一银行业务中断：紧急采购存储</a:t>
            </a:r>
          </a:p>
        </p:txBody>
      </p:sp>
      <p:pic>
        <p:nvPicPr>
          <p:cNvPr id="10" name="Picture 9" descr="ppt-ssd-r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3794760"/>
            <a:ext cx="27432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594360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  <a:ea typeface="微软雅黑"/>
              </a:rPr>
              <a:t>数据中心企业级 SSD 机柜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数据来源: IDC/Cloudscene 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盘级预测与块级寿命管理两条主线已有丰富积累，但各有缺口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512064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0A1A3E"/>
                </a:solidFill>
                <a:latin typeface="Calibri"/>
                <a:ea typeface="微软雅黑"/>
              </a:rPr>
              <a:t>盘级故障预测代表性工作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Xu+21 [阿里] GBDT/RF 通用基线，开源 9.3 万盘 SMART 数据集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Zhang+23 MVT-RF [腾讯] 多视图多任务随机森林，最强 F</a:t>
            </a:r>
            <a:r>
              <a:rPr sz="14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 基线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Koh+24 TCAN [腾讯] LSTM+交叉注意力网络，68% TPR / 70% F1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Zhang+24 MSFRD [字节] 突变相似度+半监督 Informer，61% F</a:t>
            </a:r>
            <a:r>
              <a:rPr sz="14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Chen+22 [阿里] Precision 优先多树投票，100% Precision / 21% TPR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16152"/>
            <a:ext cx="512064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0A1A3E"/>
                </a:solidFill>
                <a:latin typeface="Calibri"/>
                <a:ea typeface="微软雅黑"/>
              </a:rPr>
              <a:t>块级寿命管理代表性工作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传统方案：统一 PE 阈值全局管控，不区分块间耐久差异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FBC 特征驱动块寿命预测：已有实验室验证，但缺工程闭环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自适应磨损均衡：控制器层面已有探索，但无 预测→调度 联动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缺口：缺乏从早期分类到差异化擦写的完整策略测算与验证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现有方法在近端突变建模与块间差异利用上存在不足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512064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0A1A3E"/>
                </a:solidFill>
                <a:latin typeface="Calibri"/>
                <a:ea typeface="微软雅黑"/>
              </a:rPr>
              <a:t>盘级故障预测不足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长窗特征稀释近端突变信号，标签噪声混入静默段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多数方法 F</a:t>
            </a:r>
            <a:r>
              <a:rPr sz="14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 未达 0.9，最强基线 MVT-RF 的 FPR=4.53×10</a:t>
            </a:r>
            <a:r>
              <a:rPr sz="1400" b="0" i="0" baseline="30000">
                <a:solidFill>
                  <a:srgbClr val="333333"/>
                </a:solidFill>
                <a:latin typeface="Calibri"/>
                <a:ea typeface="微软雅黑"/>
              </a:rPr>
              <a:t>-5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大规模部署下 FPR 偏高致虚假告警，每次误报即一次换盘操作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数据中心万盘规模下，FPR 每降 10</a:t>
            </a:r>
            <a:r>
              <a:rPr sz="1400" b="0" i="0" baseline="30000">
                <a:solidFill>
                  <a:srgbClr val="333333"/>
                </a:solidFill>
                <a:latin typeface="Calibri"/>
                <a:ea typeface="微软雅黑"/>
              </a:rPr>
              <a:t>-5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 即减少约 1 次/万次假阳性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16152"/>
            <a:ext cx="512064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2000" b="1" i="0">
                <a:solidFill>
                  <a:srgbClr val="0A1A3E"/>
                </a:solidFill>
                <a:latin typeface="Calibri"/>
                <a:ea typeface="微软雅黑"/>
              </a:rPr>
              <a:t>块粒度寿命管理不足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统一 PE 阈值致弱块过早淘汰、强块耐久余量被浪费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仅限健康度/寿命预测建模，缺乏预测→调度工程闭环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未测算差异化 PE 策略的实际收益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本文目标：F</a:t>
            </a:r>
            <a:r>
              <a:rPr sz="2400" b="1" i="0" baseline="-30000">
                <a:solidFill>
                  <a:srgbClr val="0A1A3E"/>
                </a:solidFill>
                <a:latin typeface="Calibri"/>
                <a:ea typeface="微软雅黑"/>
              </a:rPr>
              <a:t>0.5</a:t>
            </a:r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≥0.9 低误报预警  写入量提升≥15% + 原型闭环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051560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F</a:t>
            </a:r>
            <a:r>
              <a:rPr sz="18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 ≥ 0.9，30 天预测窗口内低误报预警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30 天为建模窗口长度，实际主力检出集中在故障前 1-2 天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核心主线：低误报约束贯穿盘级 FPR 控制与块级误判率控制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差异化 PE 使累计写入量提升 ≥ 15%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基于强/弱块分类的差异化擦写上限策略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原型软件打通全闭环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数据接入—模型预警—人工处置—数据沉淀完整闭环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三章递进：盘级预测 → 块级优化 → 系统落地形成数据驱动闭环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1-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104" y="1216152"/>
            <a:ext cx="4911487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研究框架：三章递进，数据驱动闭环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第三章做盘级预测 → 第四章下沉到块级 → 第五章集成进运维软件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A1A3E"/>
                </a:solidFill>
                <a:latin typeface="Calibri"/>
                <a:ea typeface="微软雅黑"/>
              </a:rPr>
              <a:t>技术基础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666666"/>
                </a:solidFill>
                <a:latin typeface="Calibri"/>
                <a:ea typeface="微软雅黑"/>
              </a:rPr>
              <a:t>NAND 闪存退化机理 · SMART 监测数据 · 集成学习方法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电荷泄漏致阈值电压下降，TLC 状态间距最窄最先越界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16152"/>
            <a:ext cx="5303520" cy="228599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编程向浮栅注入电子抬高阈值电压，擦除反之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长期静置电荷经隧道氧化层泄漏，阈值电压下降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P/E 老化致界面陷阱增多、电压窗口变窄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TLC 状态间距最窄，相同漂移下最先越界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FBC 超 LDPC 纠错上限即标记坏块，冗余有限</a:t>
            </a:r>
          </a:p>
        </p:txBody>
      </p:sp>
      <p:pic>
        <p:nvPicPr>
          <p:cNvPr id="6" name="Picture 5" descr="chap4-slc-mlc-tlc-vth-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951" y="1216152"/>
            <a:ext cx="3477456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0951" y="3547871"/>
            <a:ext cx="3477456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  <a:ea typeface="微软雅黑"/>
              </a:rPr>
              <a:t>电荷泄漏后阈值电压分布左移</a:t>
            </a:r>
          </a:p>
        </p:txBody>
      </p:sp>
      <p:pic>
        <p:nvPicPr>
          <p:cNvPr id="8" name="Picture 7" descr="chap2-ssd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592" y="3794759"/>
            <a:ext cx="3096734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60592" y="6263640"/>
            <a:ext cx="3096734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  <a:ea typeface="微软雅黑"/>
              </a:rPr>
              <a:t>NAND 分层结构：LUN / Plane / Block / Page</a:t>
            </a:r>
          </a:p>
        </p:txBody>
      </p:sp>
      <p:pic>
        <p:nvPicPr>
          <p:cNvPr id="10" name="Picture 9" descr="chap2-program-erase-princi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794759"/>
            <a:ext cx="5669280" cy="16857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5571985"/>
            <a:ext cx="5669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999999"/>
                </a:solidFill>
                <a:latin typeface="Calibri"/>
                <a:ea typeface="微软雅黑"/>
              </a:rPr>
              <a:t>浮栅 MOSFET 写 / 擦原理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SMART 提供通用监测字段，但缺失芯片级 FBC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2-smart-nv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52535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6515404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CrystalDiskInfo SMART 健康日志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NVMe 健康日志仅 15 项通用字段，ID 01–0F 固定编号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运行状态：综合温度 41℃、通电时间、启动-关闭循环次数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磨损相关：已用寿命百分比、可用备用空间及其阈值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读写量记为单元计数，原始值为十六进制需按规范解码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媒体与数据完整性错误计数为全盘聚合值，定位不到块级 FBC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217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CrystalDiskInfo 8.13 读取某 1 TB NVMe SSD 的 SMART 健康日志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Bagging 降方差、Boosting 降偏差，异构集成互补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2-random-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39" y="1216152"/>
            <a:ext cx="4860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1839" y="3547872"/>
            <a:ext cx="486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Bagging 并行集成示意图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随机森林（Bagging）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自助采样叠加特征随机，多树平均降低方差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对噪声与异常样本鲁棒</a:t>
            </a:r>
          </a:p>
        </p:txBody>
      </p:sp>
      <p:pic>
        <p:nvPicPr>
          <p:cNvPr id="8" name="Picture 7" descr="chap2-gbd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889" y="1216152"/>
            <a:ext cx="497758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80889" y="3547872"/>
            <a:ext cx="49775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Boosting 串行集成示意图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GBDT / XGBoost / LightGBM（Boosting）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逐轮拟合残差降低偏差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XGBoost 引入二阶泰勒展开与显式正则化，抑制过拟合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输出特征重要性，支撑关键指标筛选与可解释分析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A1A3E"/>
                </a:solidFill>
                <a:latin typeface="Calibri"/>
                <a:ea typeface="微软雅黑"/>
              </a:rPr>
              <a:t>第三章：盘级故障预测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666666"/>
                </a:solidFill>
                <a:latin typeface="Calibri"/>
                <a:ea typeface="微软雅黑"/>
              </a:rPr>
              <a:t>混合标注 + 突变特征 + 异构集成 — 提升检出率、降低误报率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总体流程：预处理→突变特征→混合标注→异构集成→盘级评估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216152"/>
            <a:ext cx="9502218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300" b="0" i="0">
                <a:solidFill>
                  <a:srgbClr val="333333"/>
                </a:solidFill>
                <a:latin typeface="Calibri"/>
                <a:ea typeface="微软雅黑"/>
              </a:rPr>
              <a:t>SMART 日级日志经预处理与 A/B 归纳后分三路并行处理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300" b="0" i="0">
                <a:solidFill>
                  <a:srgbClr val="333333"/>
                </a:solidFill>
                <a:latin typeface="Calibri"/>
                <a:ea typeface="微软雅黑"/>
              </a:rPr>
              <a:t>混合标注提供降噪监督信号，特征层提供突变刻画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300" b="0" i="0">
                <a:solidFill>
                  <a:srgbClr val="333333"/>
                </a:solidFill>
                <a:latin typeface="Calibri"/>
                <a:ea typeface="微软雅黑"/>
              </a:rPr>
              <a:t>最终输出样本级概率，聚合为盘级最早告警评估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本章方法三模块：①短期时序突变特征 ②混合标注 ③异构集成预测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阿里云公开 SMART 数据集：5 座数据中心、9.3 万块 MLC-SSD 两年日志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pt-tianchi-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47836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6045515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天池数据集 MB1/MB2 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阿里云五座数据中心，2018.1–2019.12 日级 SMART 日志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MB1/MB2 均为 MLC-SSD，合计 9.3 万盘、2411 块故障盘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MB1 故障率 2.52%、MB2 仅 0.71%，构成高/低信噪比对照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102 列 SMART 经空值/零方差/Spearman 冗余三步筛选，保留 20/19 列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日历缺失：99% 盘有中断，63%–66% 属轻度可前向填充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MB1/MB2 故障分布与 SMART 数据缺失模式分析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failure-by-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16852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947077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MB1/MB2 月度故障计数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月度故障分布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MB1 故障高峰集中在 2018 年中与 2019 年末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MB2 故障率更低且分布更均匀</a:t>
            </a:r>
          </a:p>
        </p:txBody>
      </p:sp>
      <p:pic>
        <p:nvPicPr>
          <p:cNvPr id="8" name="Picture 7" descr="chap3-temporal-missing-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1216152"/>
            <a:ext cx="5120640" cy="13302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59" y="2592154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SMART 缺失模式分布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SMART 数据缺失模式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部分 SMART 属性存在系统性缺失，影响特征构造策略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缺失分布非随机，需在预处理阶段针对性补全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B 组属性在 MB1/MB2 上均出现故障前突变信号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b-group-mutation-eda-m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17143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976271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MB1 B 组属性时序 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MB1 突变 EDA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r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180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/r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183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 故障前 1-3 天阶跃激增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6 块故障盘时序均呈一致突变模式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A 组磨损计数缓慢平稳增长</a:t>
            </a:r>
          </a:p>
        </p:txBody>
      </p:sp>
      <p:pic>
        <p:nvPicPr>
          <p:cNvPr id="8" name="Picture 7" descr="chap3-b-group-mutation-eda-m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1216152"/>
            <a:ext cx="5120640" cy="1601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59" y="2863088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MB2 B 组属性时序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MB2 突变 EDA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低故障率场景下突变信号仍可辨识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验证 B 组突变非 MB1 特有现象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但低信噪比对模型检出能力构成挑战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首跳 PMF 峰值在故障前 1 天，为混合标注提供时间锚点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first-jump-p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2120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3382602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B 组属性首跳 PMF 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B 组属性首次非零跳变集中在故障前 1–3 天（PMF 峰值 d=1，d≤3 累计 65.7%）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首跳时间点为混合标注的正样本下界提供统计依据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将正样本限制在短窗 k=2 天与首跳的交集区间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217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MB1 子集 B 组属性首次跳变时间 PMF 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混合标注取短窗与首跳交集，评估按盘级口径统计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label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1785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047322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标注策略窗口对比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五种标注策略对比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固定长窗稀释近端突变信号，短窗与首跳窗口各有缺陷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混合策略取短窗与首跳交集，消除静默段标签噪声</a:t>
            </a:r>
          </a:p>
        </p:txBody>
      </p:sp>
      <p:pic>
        <p:nvPicPr>
          <p:cNvPr id="8" name="Picture 7" descr="chap3-tp-tn-fp-f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034" y="1216152"/>
            <a:ext cx="4811291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4034" y="3547872"/>
            <a:ext cx="4811291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盘级 TP/FP/TN/FN 口径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盘级评估口径定义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TP/FP/TN/FN 按盘级而非样本级统计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F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 赋予 Precision 更高权重，契合低误报约束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RF/XGBoost/LightGBM 经 Attention 融合，F</a:t>
            </a:r>
            <a:r>
              <a:rPr sz="2400" b="1" i="0" baseline="-30000">
                <a:solidFill>
                  <a:srgbClr val="0A1A3E"/>
                </a:solidFill>
                <a:latin typeface="Calibri"/>
                <a:ea typeface="微软雅黑"/>
              </a:rPr>
              <a:t>0.5</a:t>
            </a:r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=0.919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19568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218768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RF/XGB/LGB 异构集成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集成模型架构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RF 稳定基线，XGB 精度高，LGB 速度快效率好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Attention 模块对每个样本自适应分配权重，Softmax 归一化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Focal Loss 缓解正负样本极度失衡</a:t>
            </a:r>
          </a:p>
        </p:txBody>
      </p:sp>
      <p:pic>
        <p:nvPicPr>
          <p:cNvPr id="8" name="Picture 7" descr="ppt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013" y="1216152"/>
            <a:ext cx="4487333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6013" y="3547872"/>
            <a:ext cx="4487333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Attention 权重分配示意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Attention 加权融合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α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1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/α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2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/α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3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 经 Softmax 归一化和为 1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样本级自适应权重自动学习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融合效果优于任意单一模型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F</a:t>
            </a:r>
            <a:r>
              <a:rPr sz="2400" b="1" i="0" baseline="-30000">
                <a:solidFill>
                  <a:srgbClr val="0A1A3E"/>
                </a:solidFill>
                <a:latin typeface="Calibri"/>
                <a:ea typeface="微软雅黑"/>
              </a:rPr>
              <a:t>0.5</a:t>
            </a:r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=0.919 并列最优，FPR 降低 40%，Precision=0.981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baseline-bar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31945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4456466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七种方法三轮平均对比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F</a:t>
            </a:r>
            <a:r>
              <a:rPr sz="14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=0.919，与最强基线 MVT-RF 并列最优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FPR: 2.71×10</a:t>
            </a:r>
            <a:r>
              <a:rPr sz="1400" b="0" i="0" baseline="30000">
                <a:solidFill>
                  <a:srgbClr val="333333"/>
                </a:solidFill>
                <a:latin typeface="Calibri"/>
                <a:ea typeface="微软雅黑"/>
              </a:rPr>
              <a:t>-5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 vs MVT-RF 4.53×10</a:t>
            </a:r>
            <a:r>
              <a:rPr sz="1400" b="0" i="0" baseline="30000">
                <a:solidFill>
                  <a:srgbClr val="333333"/>
                </a:solidFill>
                <a:latin typeface="Calibri"/>
                <a:ea typeface="微软雅黑"/>
              </a:rPr>
              <a:t>-5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，FPR 下降 40%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Precision: 0.981 vs MVT-RF 0.967，高出 1.4 个百分点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万盘集群中每十万次预测减少约 1.8 次假阳性换盘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217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7 种方法三轮平均，F</a:t>
            </a:r>
            <a:r>
              <a:rPr sz="1000" b="0" i="0" baseline="-30000">
                <a:solidFill>
                  <a:srgbClr val="999999"/>
                </a:solidFill>
                <a:latin typeface="Calibri"/>
                <a:ea typeface="微软雅黑"/>
              </a:rPr>
              <a:t>0.5</a:t>
            </a:r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 加权 F-score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MB1 最优 (W=1, k=2)，TP 提前量集中在故障前 1 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wk-grid-heatmap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1918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180079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W-k 超参灵敏度热力图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W-k 超参灵敏度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MB1 峰值 F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=0.918 落在 (W=1, k=2)，MB2 落在 (2, 2)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W≥1 区域整体维持高位，性能对超参扰动不敏感</a:t>
            </a:r>
          </a:p>
        </p:txBody>
      </p:sp>
      <p:pic>
        <p:nvPicPr>
          <p:cNvPr id="8" name="Picture 7" descr="chap3-tp-lead-time-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120" y="1216152"/>
            <a:ext cx="4007119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66120" y="3547872"/>
            <a:ext cx="4007119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测试集 TP 提前天数分布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TP 预警提前量分布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提前量中位数 1 天，148 块 TP 中 146 块在 d≤1 检出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告警紧贴故障日，误报低但数据迁移窗口有限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分轮分方法 TP 提前量热力图揭示检出集中在近端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3-tp-lead-method-E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18087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3070642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分轮分方法 TP 提前天数热力图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R3 检出最多，d=1 天共 51 盘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三轮 TP 合计 148 盘（测试集故障盘共 224 块）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检出盘提前量高度集中在 d≤1 天，与混合标注短窗策略一致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告警紧贴故障日，误报极低，留给数据迁移的时间窗口有限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217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测试集分轮分方法 TP 预警提前天数热力图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第三章小结：混合标注+突变特征+异构集成三层衔接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051560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混合标注 + 突变特征 + 异构集成三层衔接方案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近端突变标注消除长窗稀释，B 组 r</a:t>
            </a:r>
            <a:r>
              <a:rPr sz="1400" b="0" i="0" baseline="-30000">
                <a:solidFill>
                  <a:srgbClr val="666666"/>
                </a:solidFill>
                <a:latin typeface="Calibri"/>
                <a:ea typeface="微软雅黑"/>
              </a:rPr>
              <a:t>k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|Δ| 捕捉 1-3 天突变信号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MB1: F</a:t>
            </a:r>
            <a:r>
              <a:rPr sz="1800" b="0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=0.919 与最强基线并列最优，FPR 降低 40%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更低 FPR、更高 Precision，契合运维低误报约束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消融实验全面验证各组件有效性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标注策略、突变特征、集成模型各自贡献均可量化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适用边界：仅在阿里云 MLC-SSD 子集上验证，跨型号泛化待考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A1A3E"/>
                </a:solidFill>
                <a:latin typeface="Calibri"/>
                <a:ea typeface="微软雅黑"/>
              </a:rPr>
              <a:t>第四章：块级寿命优化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666666"/>
                </a:solidFill>
                <a:latin typeface="Calibri"/>
                <a:ea typeface="微软雅黑"/>
              </a:rPr>
              <a:t>FBC 特征驱动强/弱块分类 → 差异化 PE 管控 → 写入量提升约 17%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实验室 85°C 加速磨损：256 逻辑块 × 10 PE 档位 FBC 时序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4-blockfilter-grou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24896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3751555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BlockFilter 分组逻辑示意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TLC SSD，85°C 高温 + 9:1 快慢磨损模拟实际场景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10 个 PE 档位（0–10K），每 Die 取 10 Block 连续区域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BlockFilter mod 4 分组重建 256 个逻辑块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字段：Level / ReadType / PageType / WL / FBC 等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256 块中强块 251、弱块仅 5，分布高度不平衡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217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块分组逻辑示意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块级 FBC 分布差异驱动强/弱块二分类，差异化 PE 使累计写入提升约 17%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4-program-erase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20866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348476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块间 PE 耐受差异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数据观察：统一阈值闲置强块余量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块间 PE 耐受差异显著，最高与最低相差 1500 次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8500 统一阈值下强块剩余写入余量被完全浪费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该差异驱动按块分层配置 PE 上限</a:t>
            </a:r>
          </a:p>
        </p:txBody>
      </p:sp>
      <p:pic>
        <p:nvPicPr>
          <p:cNvPr id="8" name="Picture 7" descr="chap4-block-labeling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1216152"/>
            <a:ext cx="5120640" cy="16918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59" y="2953713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FBC 特征→强/弱块标签流程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策略：FBC 特征→强/弱块标签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4 个早期 PE 档位（0/1000/2000/3000）采集 FBC 统计特征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以 FBC 门限 151 推导 LIFESPAN，是否达 10000 划定强/弱块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256 块中强块 251、弱块仅 5，分布高度不平衡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强块上限 10000、弱块 7500；R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imp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≈17.08%（策略测算值，TN=51, TP=1, FP=FN=0）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三模型投票融合实现强/弱块分类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4-ensemble-votin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26036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3865541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集成投票流程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LP/MP/UP 三类页分别建模后投票融合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测试集 52 块中弱块仅 1 块，属小样本点估计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DefaultRead 单次读取即可完整保留 17.08% 增益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4-lightweight-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19117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173652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读取次数/PE 档位/Wordline 消融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三维度轻量化消融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消融读取次数/PE 档位/Wordline 采样范围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DefaultRead 单次读取即保留全部增益</a:t>
            </a:r>
          </a:p>
        </p:txBody>
      </p:sp>
      <p:pic>
        <p:nvPicPr>
          <p:cNvPr id="8" name="Picture 7" descr="chap4-rimp-by-model-read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680" y="1216152"/>
            <a:ext cx="4860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39680" y="3547872"/>
            <a:ext cx="486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分模型/读类型 R</a:t>
            </a:r>
            <a:r>
              <a:rPr sz="1000" b="0" i="0" baseline="-30000">
                <a:solidFill>
                  <a:srgbClr val="999999"/>
                </a:solidFill>
                <a:latin typeface="Calibri"/>
                <a:ea typeface="微软雅黑"/>
              </a:rPr>
              <a:t>imp</a:t>
            </a:r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 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分模型/读类型 R</a:t>
            </a:r>
            <a:r>
              <a:rPr sz="1600" b="1" i="0" baseline="-30000">
                <a:solidFill>
                  <a:srgbClr val="0A1A3E"/>
                </a:solidFill>
                <a:latin typeface="Calibri"/>
                <a:ea typeface="微软雅黑"/>
              </a:rPr>
              <a:t>imp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分模型、分读类型对比 R</a:t>
            </a:r>
            <a:r>
              <a:rPr sz="1200" b="0" i="0" baseline="-30000">
                <a:solidFill>
                  <a:srgbClr val="333333"/>
                </a:solidFill>
                <a:latin typeface="Calibri"/>
                <a:ea typeface="微软雅黑"/>
              </a:rPr>
              <a:t>imp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 收益分布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DefaultRead 集成列三模型均收敛至 17.08%；BestRead 下 LP/UP 单类页面出现负增益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第四章小结：差异化 PE + 轻量化部署 + 局限声明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051560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FBC 强/弱块二分类 + 差异化 PE 管控方案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DefaultRead 单次读取即可保留全部增益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约 17% 累计可写入量提升，不突破 LDPC 安全边界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17% 为策略测算值，测试集为小样本点估计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轻量化消融验证控制器端部署可行性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从预测到调度形成完整工程闭环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局限：256 个逻辑块样本偏小，结论仍需扩大验证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0A1A3E"/>
                </a:solidFill>
                <a:latin typeface="Calibri"/>
                <a:ea typeface="微软雅黑"/>
              </a:rPr>
              <a:t>第五章：原型系统落地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666666"/>
                </a:solidFill>
                <a:latin typeface="Calibri"/>
                <a:ea typeface="微软雅黑"/>
              </a:rPr>
              <a:t>智慧 SSD 运维软件 — 数据接入→预警→处置全流程闭环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四层架构与用例设计：业务层→服务层→数据层→基础层打通闭环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5-software-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16152"/>
            <a:ext cx="5120640" cy="15903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852202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四层架构设计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系统架构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算法服务与业务解耦，支持热更新不影响主流程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定时调度 + 手动触发双模式</a:t>
            </a:r>
          </a:p>
        </p:txBody>
      </p:sp>
      <p:pic>
        <p:nvPicPr>
          <p:cNvPr id="8" name="Picture 7" descr="chap5-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1216152"/>
            <a:ext cx="5120640" cy="1999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59" y="326136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用例分析图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97680"/>
            <a:ext cx="512064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1A3E"/>
                </a:solidFill>
                <a:latin typeface="Calibri"/>
                <a:ea typeface="微软雅黑"/>
              </a:rPr>
              <a:t>用例分析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管理侧：盘资产/日志/故障记录 CRUD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预警侧：生成/处置/确认/忽略全流程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200" b="0" i="0">
                <a:solidFill>
                  <a:srgbClr val="333333"/>
                </a:solidFill>
                <a:latin typeface="Calibri"/>
                <a:ea typeface="微软雅黑"/>
              </a:rPr>
              <a:t>功能测试覆盖采集—推理—预警全链路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预警处置形成完整业务闭环，状态终态不可逆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p5-warning-handl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216152"/>
            <a:ext cx="5669280" cy="18297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19" y="3091639"/>
            <a:ext cx="5669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预警处置交互顺序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216152"/>
            <a:ext cx="484632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A1A3E"/>
                </a:solidFill>
                <a:latin typeface="Calibri"/>
                <a:ea typeface="微软雅黑"/>
              </a:rPr>
              <a:t>分析要点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预警管理支持确认和忽略操作，故障处置跟踪换盘流程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状态流转：pending→confirmed/ignored，终态不可重复处置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400" b="0" i="0">
                <a:solidFill>
                  <a:srgbClr val="333333"/>
                </a:solidFill>
                <a:latin typeface="Calibri"/>
                <a:ea typeface="微软雅黑"/>
              </a:rPr>
              <a:t>前端 Vue3+TypeScript，后端 Java+Python 算法服务，REST 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0A1A3E"/>
                </a:solidFill>
                <a:latin typeface="Calibri"/>
                <a:ea typeface="微软雅黑"/>
              </a:rPr>
              <a:t>总结：低误报约束贯穿两大任务，三项核心贡献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033272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16152"/>
            <a:ext cx="996696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33333"/>
                </a:solidFill>
                <a:latin typeface="Calibri"/>
                <a:ea typeface="微软雅黑"/>
              </a:rPr>
              <a:t>①  近端突变标注 + 短期突变特征</a:t>
            </a:r>
          </a:p>
          <a:p>
            <a:pPr algn="l">
              <a:spcAft>
                <a:spcPts val="18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混合标注消除长窗稀释，B 组 r</a:t>
            </a:r>
            <a:r>
              <a:rPr sz="1600" b="0" i="0" baseline="-30000">
                <a:solidFill>
                  <a:srgbClr val="666666"/>
                </a:solidFill>
                <a:latin typeface="Calibri"/>
                <a:ea typeface="微软雅黑"/>
              </a:rPr>
              <a:t>k</a:t>
            </a: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|Δ| 捕捉 1-3 天突变信号，F</a:t>
            </a:r>
            <a:r>
              <a:rPr sz="1600" b="0" i="0" baseline="-30000">
                <a:solidFill>
                  <a:srgbClr val="666666"/>
                </a:solidFill>
                <a:latin typeface="Calibri"/>
                <a:ea typeface="微软雅黑"/>
              </a:rPr>
              <a:t>0.5</a:t>
            </a: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 从基线多数未达 0.9 突破至 0.919，与最强基线并列最优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33333"/>
                </a:solidFill>
                <a:latin typeface="Calibri"/>
                <a:ea typeface="微软雅黑"/>
              </a:rPr>
              <a:t>②  异构集成预测 F</a:t>
            </a:r>
            <a:r>
              <a:rPr sz="2200" b="1" i="0" baseline="-30000">
                <a:solidFill>
                  <a:srgbClr val="333333"/>
                </a:solidFill>
                <a:latin typeface="Calibri"/>
                <a:ea typeface="微软雅黑"/>
              </a:rPr>
              <a:t>0.5</a:t>
            </a:r>
            <a:r>
              <a:rPr sz="2200" b="1" i="0">
                <a:solidFill>
                  <a:srgbClr val="333333"/>
                </a:solidFill>
                <a:latin typeface="Calibri"/>
                <a:ea typeface="微软雅黑"/>
              </a:rPr>
              <a:t>=0.919，FPR 降低 40%</a:t>
            </a:r>
          </a:p>
          <a:p>
            <a:pPr algn="l">
              <a:spcAft>
                <a:spcPts val="18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Attention 融合 F</a:t>
            </a:r>
            <a:r>
              <a:rPr sz="1600" b="0" i="0" baseline="-30000">
                <a:solidFill>
                  <a:srgbClr val="666666"/>
                </a:solidFill>
                <a:latin typeface="Calibri"/>
                <a:ea typeface="微软雅黑"/>
              </a:rPr>
              <a:t>0.5</a:t>
            </a: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=0.919 并列最优，FPR 从 4.53×10</a:t>
            </a:r>
            <a:r>
              <a:rPr sz="1600" b="0" i="0" baseline="30000">
                <a:solidFill>
                  <a:srgbClr val="666666"/>
                </a:solidFill>
                <a:latin typeface="Calibri"/>
                <a:ea typeface="微软雅黑"/>
              </a:rPr>
              <a:t>-5</a:t>
            </a: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 压至 2.71×10</a:t>
            </a:r>
            <a:r>
              <a:rPr sz="1600" b="0" i="0" baseline="30000">
                <a:solidFill>
                  <a:srgbClr val="666666"/>
                </a:solidFill>
                <a:latin typeface="Calibri"/>
                <a:ea typeface="微软雅黑"/>
              </a:rPr>
              <a:t>-5</a:t>
            </a: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，Precision 达 0.981，大规模部署虚假告警显著减少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333333"/>
                </a:solidFill>
                <a:latin typeface="Calibri"/>
                <a:ea typeface="微软雅黑"/>
              </a:rPr>
              <a:t>③  差异化 PE 写入量提升约 17%（策略测算值）</a:t>
            </a:r>
          </a:p>
          <a:p>
            <a:pPr algn="l">
              <a:spcAft>
                <a:spcPts val="1800"/>
              </a:spcAft>
            </a:pPr>
            <a:r>
              <a:rPr sz="1600" b="0" i="0">
                <a:solidFill>
                  <a:srgbClr val="666666"/>
                </a:solidFill>
                <a:latin typeface="Calibri"/>
                <a:ea typeface="微软雅黑"/>
              </a:rPr>
              <a:t>强/弱块分类后差异化擦写上限，DefaultRead 单次读取保留增益。测试集为小样本点估计，统计可靠性有限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A1A3E"/>
                </a:solidFill>
                <a:latin typeface="Calibri"/>
                <a:ea typeface="微软雅黑"/>
              </a:rPr>
              <a:t>未来方向：跨型号泛化、在线学习与边缘部署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51560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0515600" cy="486460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跨厂商/跨型号泛化验证，包括 QLC/PLC 新型闪存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MB2 TPR 仅约 0.19，弱信号故障盘仍难检出，是低误报约束下固有代价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在线增量学习应对概念漂移，持续迭代模型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◦  </a:t>
            </a:r>
            <a:r>
              <a:rPr sz="1400" b="0" i="0">
                <a:solidFill>
                  <a:srgbClr val="666666"/>
                </a:solidFill>
                <a:latin typeface="Calibri"/>
                <a:ea typeface="微软雅黑"/>
              </a:rPr>
              <a:t>256 个逻辑块样本偏小，块级结论仍需扩大验证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模型剪枝量化后部署到 TPU 或 FPGA 边缘端加速推理</a:t>
            </a:r>
          </a:p>
          <a:p>
            <a:pPr algn="l">
              <a:spcAft>
                <a:spcPts val="18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●  </a:t>
            </a:r>
            <a:r>
              <a:rPr sz="1800" b="0" i="0">
                <a:solidFill>
                  <a:srgbClr val="333333"/>
                </a:solidFill>
                <a:latin typeface="Calibri"/>
                <a:ea typeface="微软雅黑"/>
              </a:rPr>
              <a:t>结合特征重要性做故障归因，增强可解释性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999999"/>
                </a:solidFill>
                <a:latin typeface="Calibri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  <a:ea typeface="微软雅黑"/>
              </a:rPr>
              <a:t>浙江大学硕士学位论文答辩</a:t>
            </a:r>
          </a:p>
        </p:txBody>
      </p:sp>
      <p:pic>
        <p:nvPicPr>
          <p:cNvPr id="4" name="Picture 3" descr="zj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639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4130040"/>
            <a:ext cx="8503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600" b="1" i="0">
                <a:solidFill>
                  <a:srgbClr val="0A1A3E"/>
                </a:solidFill>
                <a:latin typeface="Calibri"/>
                <a:ea typeface="微软雅黑"/>
              </a:rPr>
              <a:t>感谢各位专家评审！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44440"/>
            <a:ext cx="8503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 i="0">
                <a:solidFill>
                  <a:srgbClr val="666666"/>
                </a:solidFill>
                <a:latin typeface="Calibri"/>
                <a:ea typeface="微软雅黑"/>
              </a:rPr>
              <a:t>敬请批评指正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