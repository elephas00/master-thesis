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8"/>
        <p:guide pos="383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右箭头 7"/>
          <p:cNvSpPr/>
          <p:nvPr/>
        </p:nvSpPr>
        <p:spPr>
          <a:xfrm>
            <a:off x="1685290" y="1700530"/>
            <a:ext cx="37592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1658620" y="4781550"/>
            <a:ext cx="37592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647565" y="1700530"/>
            <a:ext cx="37592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4647565" y="4781550"/>
            <a:ext cx="37592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360035" y="3684905"/>
            <a:ext cx="3631565" cy="2812415"/>
          </a:xfrm>
          <a:prstGeom prst="roundRect">
            <a:avLst/>
          </a:prstGeom>
          <a:noFill/>
          <a:ln w="12700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421005" y="1534795"/>
            <a:ext cx="927735" cy="4238625"/>
            <a:chOff x="1979" y="1965"/>
            <a:chExt cx="1461" cy="6675"/>
          </a:xfrm>
        </p:grpSpPr>
        <p:sp>
          <p:nvSpPr>
            <p:cNvPr id="14" name="圆角矩形 13"/>
            <p:cNvSpPr/>
            <p:nvPr/>
          </p:nvSpPr>
          <p:spPr>
            <a:xfrm>
              <a:off x="1979" y="1965"/>
              <a:ext cx="1461" cy="601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24" y="2156"/>
              <a:ext cx="1216" cy="6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基于机器学习的固态硬盘故障预测与寿命提升方法研究</a:t>
              </a:r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176145" y="1369060"/>
            <a:ext cx="2233930" cy="1276350"/>
            <a:chOff x="4370" y="2156"/>
            <a:chExt cx="3518" cy="2010"/>
          </a:xfrm>
        </p:grpSpPr>
        <p:sp>
          <p:nvSpPr>
            <p:cNvPr id="15" name="圆角矩形 14"/>
            <p:cNvSpPr/>
            <p:nvPr/>
          </p:nvSpPr>
          <p:spPr>
            <a:xfrm>
              <a:off x="4370" y="2156"/>
              <a:ext cx="3519" cy="20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92" y="2417"/>
              <a:ext cx="3267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针对硬盘正负样本不平衡</a:t>
              </a:r>
              <a:r>
                <a:rPr lang="en-US" altLang="zh-CN"/>
                <a:t>，</a:t>
              </a:r>
              <a:r>
                <a:rPr lang="zh-CN" altLang="en-US"/>
                <a:t>低</a:t>
              </a:r>
              <a:r>
                <a:rPr lang="en-US" altLang="zh-CN"/>
                <a:t>FPR</a:t>
              </a:r>
              <a:r>
                <a:rPr lang="zh-CN" altLang="en-US"/>
                <a:t>率</a:t>
              </a:r>
              <a:r>
                <a:rPr lang="zh-CN" altLang="en-US"/>
                <a:t>约束</a:t>
              </a:r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107565" y="4210050"/>
            <a:ext cx="2233930" cy="1276985"/>
            <a:chOff x="4262" y="5399"/>
            <a:chExt cx="3518" cy="2011"/>
          </a:xfrm>
        </p:grpSpPr>
        <p:sp>
          <p:nvSpPr>
            <p:cNvPr id="16" name="圆角矩形 15"/>
            <p:cNvSpPr/>
            <p:nvPr/>
          </p:nvSpPr>
          <p:spPr>
            <a:xfrm>
              <a:off x="4262" y="5399"/>
              <a:ext cx="3519" cy="201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92" y="5400"/>
              <a:ext cx="2850" cy="20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针对硬盘正负样本不平衡</a:t>
              </a:r>
              <a:r>
                <a:rPr lang="en-US" altLang="zh-CN"/>
                <a:t>，</a:t>
              </a:r>
              <a:r>
                <a:rPr lang="zh-CN" altLang="en-US"/>
                <a:t>低</a:t>
              </a:r>
              <a:r>
                <a:rPr lang="en-US" altLang="zh-CN"/>
                <a:t>FPR</a:t>
              </a:r>
              <a:r>
                <a:rPr lang="zh-CN" altLang="en-US"/>
                <a:t>约束</a:t>
              </a:r>
              <a:r>
                <a:rPr lang="en-US" altLang="zh-CN"/>
                <a:t>，</a:t>
              </a:r>
              <a:r>
                <a:rPr lang="zh-CN" altLang="en-US"/>
                <a:t>少样本</a:t>
              </a:r>
              <a:r>
                <a:rPr lang="zh-CN" altLang="en-US"/>
                <a:t>数量</a:t>
              </a:r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057390" y="2205355"/>
            <a:ext cx="2600325" cy="921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9032240" y="1700530"/>
            <a:ext cx="37592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629910" y="3783965"/>
            <a:ext cx="2600325" cy="921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低</a:t>
            </a:r>
            <a:r>
              <a:rPr lang="en-US" altLang="zh-CN"/>
              <a:t>FPR</a:t>
            </a:r>
            <a:r>
              <a:rPr lang="zh-CN" altLang="en-US"/>
              <a:t>条件下固态硬盘寿命提升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388860" y="4540885"/>
            <a:ext cx="1427480" cy="466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数据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预处理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29910" y="5173345"/>
            <a:ext cx="1262380" cy="466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特征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工程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629910" y="4540885"/>
            <a:ext cx="1427480" cy="466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逻辑块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构建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629910" y="5805805"/>
            <a:ext cx="1262380" cy="466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模型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选择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323205" y="808355"/>
            <a:ext cx="3630930" cy="2600960"/>
            <a:chOff x="9326" y="1486"/>
            <a:chExt cx="5718" cy="4096"/>
          </a:xfrm>
        </p:grpSpPr>
        <p:sp>
          <p:nvSpPr>
            <p:cNvPr id="12" name="圆角矩形 11"/>
            <p:cNvSpPr/>
            <p:nvPr/>
          </p:nvSpPr>
          <p:spPr>
            <a:xfrm>
              <a:off x="9326" y="1486"/>
              <a:ext cx="5718" cy="40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024" y="1676"/>
              <a:ext cx="4095" cy="14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低</a:t>
              </a:r>
              <a:r>
                <a:rPr lang="en-US" altLang="zh-CN"/>
                <a:t>FPR</a:t>
              </a:r>
              <a:r>
                <a:rPr lang="zh-CN" altLang="en-US"/>
                <a:t>条件下固态硬盘故障预测</a:t>
              </a:r>
              <a:r>
                <a:rPr lang="zh-CN" altLang="en-US"/>
                <a:t>方法</a:t>
              </a: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2579" y="3576"/>
              <a:ext cx="1988" cy="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标签策略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9809" y="2678"/>
              <a:ext cx="2248" cy="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数据</a:t>
              </a:r>
              <a:r>
                <a:rPr lang="zh-CN" altLang="en-US">
                  <a:solidFill>
                    <a:schemeClr val="tx1"/>
                  </a:solidFill>
                  <a:sym typeface="+mn-ea"/>
                </a:rPr>
                <a:t>预处理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809" y="3576"/>
              <a:ext cx="1988" cy="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特征</a:t>
              </a:r>
              <a:r>
                <a:rPr lang="zh-CN" altLang="en-US">
                  <a:solidFill>
                    <a:schemeClr val="tx1"/>
                  </a:solidFill>
                  <a:sym typeface="+mn-ea"/>
                </a:rPr>
                <a:t>工程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809" y="4488"/>
              <a:ext cx="1988" cy="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模型</a:t>
              </a:r>
              <a:r>
                <a:rPr lang="zh-CN" altLang="en-US">
                  <a:solidFill>
                    <a:schemeClr val="tx1"/>
                  </a:solidFill>
                  <a:sym typeface="+mn-ea"/>
                </a:rPr>
                <a:t>选择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2579" y="2678"/>
              <a:ext cx="1988" cy="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  <a:sym typeface="+mn-ea"/>
                </a:rPr>
                <a:t>数据</a:t>
              </a:r>
              <a:r>
                <a:rPr lang="zh-CN" altLang="en-US">
                  <a:solidFill>
                    <a:schemeClr val="tx1"/>
                  </a:solidFill>
                  <a:sym typeface="+mn-ea"/>
                </a:rPr>
                <a:t>清洗</a:t>
              </a: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388860" y="5194300"/>
            <a:ext cx="1427480" cy="4895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二分类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策略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9657715" y="1438275"/>
            <a:ext cx="2234565" cy="593725"/>
            <a:chOff x="4370" y="2156"/>
            <a:chExt cx="3519" cy="2011"/>
          </a:xfrm>
        </p:grpSpPr>
        <p:sp>
          <p:nvSpPr>
            <p:cNvPr id="46" name="文本框 45"/>
            <p:cNvSpPr txBox="1"/>
            <p:nvPr/>
          </p:nvSpPr>
          <p:spPr>
            <a:xfrm>
              <a:off x="4592" y="2417"/>
              <a:ext cx="3267" cy="1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故障硬盘预测</a:t>
              </a:r>
              <a:r>
                <a:rPr lang="zh-CN" altLang="en-US"/>
                <a:t>模型</a:t>
              </a:r>
              <a:endParaRPr lang="zh-CN" altLang="en-US"/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4370" y="2156"/>
              <a:ext cx="3519" cy="2011"/>
            </a:xfrm>
            <a:prstGeom prst="round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8" name="右箭头 47"/>
          <p:cNvSpPr/>
          <p:nvPr/>
        </p:nvSpPr>
        <p:spPr>
          <a:xfrm>
            <a:off x="9032240" y="4781550"/>
            <a:ext cx="375920" cy="28511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9657715" y="4650105"/>
            <a:ext cx="2234565" cy="703580"/>
            <a:chOff x="4370" y="2156"/>
            <a:chExt cx="3519" cy="1108"/>
          </a:xfrm>
        </p:grpSpPr>
        <p:sp>
          <p:nvSpPr>
            <p:cNvPr id="50" name="文本框 49"/>
            <p:cNvSpPr txBox="1"/>
            <p:nvPr/>
          </p:nvSpPr>
          <p:spPr>
            <a:xfrm>
              <a:off x="4592" y="2417"/>
              <a:ext cx="326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强块预测</a:t>
              </a:r>
              <a:r>
                <a:rPr lang="zh-CN" altLang="en-US"/>
                <a:t>模型</a:t>
              </a:r>
              <a:endParaRPr lang="zh-CN" altLang="en-US"/>
            </a:p>
          </p:txBody>
        </p:sp>
        <p:sp>
          <p:nvSpPr>
            <p:cNvPr id="51" name="圆角矩形 50"/>
            <p:cNvSpPr/>
            <p:nvPr/>
          </p:nvSpPr>
          <p:spPr>
            <a:xfrm>
              <a:off x="4370" y="2156"/>
              <a:ext cx="3519" cy="1108"/>
            </a:xfrm>
            <a:prstGeom prst="round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龙泳江</cp:lastModifiedBy>
  <cp:revision>164</cp:revision>
  <dcterms:created xsi:type="dcterms:W3CDTF">2026-03-15T13:05:47Z</dcterms:created>
  <dcterms:modified xsi:type="dcterms:W3CDTF">2026-03-15T13:05:47Z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11D8C051E5BCC85825A9B669A5E65186_41</vt:lpwstr>
  </property>
</Properties>
</file>